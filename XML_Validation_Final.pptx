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7" r:id="rId2"/>
    <p:sldId id="288" r:id="rId3"/>
    <p:sldId id="290" r:id="rId4"/>
    <p:sldId id="291" r:id="rId5"/>
    <p:sldId id="292" r:id="rId6"/>
    <p:sldId id="293" r:id="rId7"/>
    <p:sldId id="294" r:id="rId8"/>
    <p:sldId id="295" r:id="rId9"/>
    <p:sldId id="272" r:id="rId10"/>
    <p:sldId id="274"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3" d="100"/>
          <a:sy n="73" d="100"/>
        </p:scale>
        <p:origin x="4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932242-27E4-4493-8FA1-70F4075EFF4F}" type="datetimeFigureOut">
              <a:rPr lang="en-US" smtClean="0"/>
              <a:t>3/20/2019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254E7-06DF-46E4-805F-96F37949D97D}" type="slidenum">
              <a:rPr lang="en-US" smtClean="0"/>
              <a:t>‹#›</a:t>
            </a:fld>
            <a:endParaRPr lang="en-US"/>
          </a:p>
        </p:txBody>
      </p:sp>
    </p:spTree>
    <p:extLst>
      <p:ext uri="{BB962C8B-B14F-4D97-AF65-F5344CB8AC3E}">
        <p14:creationId xmlns:p14="http://schemas.microsoft.com/office/powerpoint/2010/main" val="3695366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2405624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3212449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3</a:t>
            </a:fld>
            <a:endParaRPr lang="en-US" dirty="0"/>
          </a:p>
        </p:txBody>
      </p:sp>
    </p:spTree>
    <p:extLst>
      <p:ext uri="{BB962C8B-B14F-4D97-AF65-F5344CB8AC3E}">
        <p14:creationId xmlns:p14="http://schemas.microsoft.com/office/powerpoint/2010/main" val="160341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4</a:t>
            </a:fld>
            <a:endParaRPr lang="en-US" dirty="0"/>
          </a:p>
        </p:txBody>
      </p:sp>
    </p:spTree>
    <p:extLst>
      <p:ext uri="{BB962C8B-B14F-4D97-AF65-F5344CB8AC3E}">
        <p14:creationId xmlns:p14="http://schemas.microsoft.com/office/powerpoint/2010/main" val="3887742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9</a:t>
            </a:fld>
            <a:endParaRPr lang="en-US" dirty="0"/>
          </a:p>
        </p:txBody>
      </p:sp>
    </p:spTree>
    <p:extLst>
      <p:ext uri="{BB962C8B-B14F-4D97-AF65-F5344CB8AC3E}">
        <p14:creationId xmlns:p14="http://schemas.microsoft.com/office/powerpoint/2010/main" val="3151210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297768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437594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83D3-5198-4782-BF9D-E5A65D75F3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FA1BDF-F9BB-4633-9018-0CBDB4021E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38A9EC-0809-4BAD-B9EC-BE2536D37A79}"/>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5" name="Footer Placeholder 4">
            <a:extLst>
              <a:ext uri="{FF2B5EF4-FFF2-40B4-BE49-F238E27FC236}">
                <a16:creationId xmlns:a16="http://schemas.microsoft.com/office/drawing/2014/main" id="{E4493B35-F2AC-42DE-BF1E-AC224DB2B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96299B-8065-4D09-BEFF-EABD8A9FD934}"/>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183309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18DC-283E-43AD-BF16-2407C4F7C6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83B65A-076C-47A9-9934-2495F236907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30789-8D3F-4B5F-BF29-473593C5012B}"/>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5" name="Footer Placeholder 4">
            <a:extLst>
              <a:ext uri="{FF2B5EF4-FFF2-40B4-BE49-F238E27FC236}">
                <a16:creationId xmlns:a16="http://schemas.microsoft.com/office/drawing/2014/main" id="{BBC4DFED-4B90-487D-8A5C-70D95A6C2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E0FD0-5A0F-4BA5-9BE9-2C21D88D4EDA}"/>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2522927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9F4CF-CC75-4D0D-A15D-2996677398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F48E56-2E0D-42CB-93E0-AFA25656C3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87C9EDD-4EDD-4C15-83F0-29C60B0792FB}"/>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5" name="Footer Placeholder 4">
            <a:extLst>
              <a:ext uri="{FF2B5EF4-FFF2-40B4-BE49-F238E27FC236}">
                <a16:creationId xmlns:a16="http://schemas.microsoft.com/office/drawing/2014/main" id="{79CC3A1C-70F3-4BF2-8219-795A7BCA7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2F7ED-A001-4DB6-B36C-4BC7B75F3646}"/>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1365163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632A-FCDB-4AC3-9919-3E18ED8E4A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618B70-BF6B-4A74-90B5-20A786C5CEF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48111B-D3E6-4704-9E2A-71086C69F1A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6FDA90-3410-47A2-BE73-ECDE8B3FD28A}"/>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6" name="Footer Placeholder 5">
            <a:extLst>
              <a:ext uri="{FF2B5EF4-FFF2-40B4-BE49-F238E27FC236}">
                <a16:creationId xmlns:a16="http://schemas.microsoft.com/office/drawing/2014/main" id="{805BD692-67FD-4E98-890D-22507643F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3E465A-0F65-42C8-B714-AB4C45176691}"/>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118497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6AE3-55D8-470C-BE1C-9748A3F887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C21B67-3F41-4FA6-8ACE-BB446BF5E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B62A6A4-32B1-4E87-AD98-E5801B9FA77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D6DB35-7DD7-4EE4-93AE-82ED5637D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FCC40FE-C591-4E1C-8FE6-EA75E6A1D9A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9B75EB-0AA6-42C8-87F5-6BCC245B13F6}"/>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8" name="Footer Placeholder 7">
            <a:extLst>
              <a:ext uri="{FF2B5EF4-FFF2-40B4-BE49-F238E27FC236}">
                <a16:creationId xmlns:a16="http://schemas.microsoft.com/office/drawing/2014/main" id="{C28CE1BB-8179-4338-902A-70C92ABA5A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5C817D-AF1D-43FA-9A73-BF955E8B48EE}"/>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2804650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26828-6C2E-4BEC-A16D-6547FC916D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3F3248-7E41-4974-968A-E4E4949BA2FB}"/>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4" name="Footer Placeholder 3">
            <a:extLst>
              <a:ext uri="{FF2B5EF4-FFF2-40B4-BE49-F238E27FC236}">
                <a16:creationId xmlns:a16="http://schemas.microsoft.com/office/drawing/2014/main" id="{930E0909-38D8-4079-B77B-414A56F7D7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BBB9DD-8717-438E-BFF6-99C85CF518B4}"/>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851424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B8D95-82F7-4ACB-8AA6-10EC07F0B5D4}"/>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3" name="Footer Placeholder 2">
            <a:extLst>
              <a:ext uri="{FF2B5EF4-FFF2-40B4-BE49-F238E27FC236}">
                <a16:creationId xmlns:a16="http://schemas.microsoft.com/office/drawing/2014/main" id="{B4BC516B-6E8F-40A4-B59E-42EE046733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01F637-6D36-41D0-827C-0DBD53909980}"/>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1270129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1C75-20FF-41DB-B42A-B9BFCB1D7E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FC8953-2BEB-42A3-B4B5-054794AFF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57C95E-230E-4DB3-9050-996ED1C47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C1F9C2C-1C5D-4368-A252-5C179A8A019E}"/>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6" name="Footer Placeholder 5">
            <a:extLst>
              <a:ext uri="{FF2B5EF4-FFF2-40B4-BE49-F238E27FC236}">
                <a16:creationId xmlns:a16="http://schemas.microsoft.com/office/drawing/2014/main" id="{61C77763-1B2E-4D62-B0BD-7700B66F56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4E8C5F-F78E-461F-AA0D-3849A1925AAC}"/>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63412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6815C-FA54-4D82-8C81-83896B6111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DFEEF5-B119-4EB7-A441-7012DE7CAC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25327D-35E2-4FE8-AECD-9A04C3578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CD2DDC4-E45D-4B4A-AFB9-9AB72296A7C8}"/>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6" name="Footer Placeholder 5">
            <a:extLst>
              <a:ext uri="{FF2B5EF4-FFF2-40B4-BE49-F238E27FC236}">
                <a16:creationId xmlns:a16="http://schemas.microsoft.com/office/drawing/2014/main" id="{3B588CA8-984C-43B0-87BD-7D55888CD0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39737F-85A2-4ED3-8DCF-514C66E714E2}"/>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2455024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FF8B-A62A-4132-90A4-5DFD51A981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BDF83D-22D6-4BB1-903A-6BA02E8EFF7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CECB8-275C-4693-BC88-E46E5C1FD8A0}"/>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5" name="Footer Placeholder 4">
            <a:extLst>
              <a:ext uri="{FF2B5EF4-FFF2-40B4-BE49-F238E27FC236}">
                <a16:creationId xmlns:a16="http://schemas.microsoft.com/office/drawing/2014/main" id="{33A20675-B4BF-4AF4-9455-980BA7F15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4ADC9B-E5E4-4209-8165-C2A2033EE7D1}"/>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2417117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72089-CBBF-4039-9EA0-8B611C5116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2FDC7E-1063-4CD2-9FE1-BFE46CA699E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FF1952-922C-49B0-976D-62C07E963AEA}"/>
              </a:ext>
            </a:extLst>
          </p:cNvPr>
          <p:cNvSpPr>
            <a:spLocks noGrp="1"/>
          </p:cNvSpPr>
          <p:nvPr>
            <p:ph type="dt" sz="half" idx="10"/>
          </p:nvPr>
        </p:nvSpPr>
        <p:spPr/>
        <p:txBody>
          <a:bodyPr/>
          <a:lstStyle/>
          <a:p>
            <a:fld id="{5B57B1E3-1306-4643-A55F-62066A795280}" type="datetimeFigureOut">
              <a:rPr lang="en-US" smtClean="0"/>
              <a:t>3/20/2019</a:t>
            </a:fld>
            <a:endParaRPr lang="en-US"/>
          </a:p>
        </p:txBody>
      </p:sp>
      <p:sp>
        <p:nvSpPr>
          <p:cNvPr id="5" name="Footer Placeholder 4">
            <a:extLst>
              <a:ext uri="{FF2B5EF4-FFF2-40B4-BE49-F238E27FC236}">
                <a16:creationId xmlns:a16="http://schemas.microsoft.com/office/drawing/2014/main" id="{35271076-1C87-4B7D-BC9D-FF3CE258D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68A73-B493-46E6-83E4-BE109A3B0851}"/>
              </a:ext>
            </a:extLst>
          </p:cNvPr>
          <p:cNvSpPr>
            <a:spLocks noGrp="1"/>
          </p:cNvSpPr>
          <p:nvPr>
            <p:ph type="sldNum" sz="quarter" idx="12"/>
          </p:nvPr>
        </p:nvSpPr>
        <p:spPr/>
        <p:txBody>
          <a:bodyPr/>
          <a:lstStyle/>
          <a:p>
            <a:fld id="{A72EFDE8-3F98-4D74-84BF-33E0C7DCC441}" type="slidenum">
              <a:rPr lang="en-US" smtClean="0"/>
              <a:t>‹#›</a:t>
            </a:fld>
            <a:endParaRPr lang="en-US"/>
          </a:p>
        </p:txBody>
      </p:sp>
    </p:spTree>
    <p:extLst>
      <p:ext uri="{BB962C8B-B14F-4D97-AF65-F5344CB8AC3E}">
        <p14:creationId xmlns:p14="http://schemas.microsoft.com/office/powerpoint/2010/main" val="2910903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668500000"/>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727733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A7F60-8D18-4A7B-8E75-E97C103C36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D25C3A-1083-4994-A518-3EE6C4EFB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9E8A60-58C2-421A-9954-1431B14CAE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57B1E3-1306-4643-A55F-62066A795280}" type="datetimeFigureOut">
              <a:rPr lang="en-US" smtClean="0"/>
              <a:t>3/20/2019</a:t>
            </a:fld>
            <a:endParaRPr lang="en-US"/>
          </a:p>
        </p:txBody>
      </p:sp>
      <p:sp>
        <p:nvSpPr>
          <p:cNvPr id="5" name="Footer Placeholder 4">
            <a:extLst>
              <a:ext uri="{FF2B5EF4-FFF2-40B4-BE49-F238E27FC236}">
                <a16:creationId xmlns:a16="http://schemas.microsoft.com/office/drawing/2014/main" id="{27665A80-4FAA-4F3F-8D11-7128BAAB48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353EED-1E30-4F7B-B010-526B2F09DB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2EFDE8-3F98-4D74-84BF-33E0C7DCC441}" type="slidenum">
              <a:rPr lang="en-US" smtClean="0"/>
              <a:t>‹#›</a:t>
            </a:fld>
            <a:endParaRPr lang="en-US"/>
          </a:p>
        </p:txBody>
      </p:sp>
    </p:spTree>
    <p:extLst>
      <p:ext uri="{BB962C8B-B14F-4D97-AF65-F5344CB8AC3E}">
        <p14:creationId xmlns:p14="http://schemas.microsoft.com/office/powerpoint/2010/main" val="2250231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285875" y="4243388"/>
            <a:ext cx="10451306" cy="1321594"/>
          </a:xfrm>
        </p:spPr>
        <p:txBody>
          <a:bodyPr>
            <a:noAutofit/>
          </a:bodyPr>
          <a:lstStyle/>
          <a:p>
            <a:r>
              <a:rPr lang="en-US" sz="4400" dirty="0"/>
              <a:t>XML VALIDATION</a:t>
            </a:r>
          </a:p>
        </p:txBody>
      </p:sp>
      <p:pic>
        <p:nvPicPr>
          <p:cNvPr id="9" name="Picture Placeholder 8"/>
          <p:cNvPicPr>
            <a:picLocks noGrp="1" noChangeAspect="1"/>
          </p:cNvPicPr>
          <p:nvPr>
            <p:ph type="pic" sz="quarter" idx="11"/>
          </p:nvPr>
        </p:nvPicPr>
        <p:blipFill>
          <a:blip r:embed="rId3"/>
          <a:srcRect l="15" r="15"/>
          <a:stretch>
            <a:fillRect/>
          </a:stretch>
        </p:blipFill>
        <p:spPr>
          <a:xfrm>
            <a:off x="3043238" y="-71438"/>
            <a:ext cx="6036467" cy="4769883"/>
          </a:xfrm>
        </p:spPr>
      </p:pic>
    </p:spTree>
    <p:extLst>
      <p:ext uri="{BB962C8B-B14F-4D97-AF65-F5344CB8AC3E}">
        <p14:creationId xmlns:p14="http://schemas.microsoft.com/office/powerpoint/2010/main" val="87193285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9080" y="262346"/>
            <a:ext cx="11463020" cy="1196763"/>
          </a:xfrm>
        </p:spPr>
        <p:txBody>
          <a:bodyPr/>
          <a:lstStyle/>
          <a:p>
            <a:r>
              <a:rPr lang="en-US" sz="3200" b="1" dirty="0"/>
              <a:t>XML VALIDATION</a:t>
            </a:r>
            <a:endParaRPr lang="en-US" sz="3200" b="1" noProof="0" dirty="0"/>
          </a:p>
        </p:txBody>
      </p:sp>
      <p:sp>
        <p:nvSpPr>
          <p:cNvPr id="25" name="Text Placeholder 3"/>
          <p:cNvSpPr txBox="1">
            <a:spLocks/>
          </p:cNvSpPr>
          <p:nvPr/>
        </p:nvSpPr>
        <p:spPr bwMode="gray">
          <a:xfrm>
            <a:off x="4488180" y="3167829"/>
            <a:ext cx="6446520" cy="1378365"/>
          </a:xfrm>
          <a:prstGeom prst="rect">
            <a:avLst/>
          </a:prstGeom>
        </p:spPr>
        <p:txBody>
          <a:bodyPr vert="horz" lIns="0" tIns="0" rIns="0" bIns="0" rtlCol="0">
            <a:noAutofit/>
          </a:bodyPr>
          <a:lstStyle/>
          <a:p>
            <a:pPr marL="285750" indent="-285750">
              <a:buFont typeface="Arial" panose="020B0604020202020204" pitchFamily="34" charset="0"/>
              <a:buChar char="•"/>
            </a:pPr>
            <a:endParaRPr lang="en-US" sz="1600" dirty="0">
              <a:solidFill>
                <a:schemeClr val="dk1"/>
              </a:solidFill>
            </a:endParaRPr>
          </a:p>
          <a:p>
            <a:pPr marL="285750" indent="-285750">
              <a:buFont typeface="Arial" panose="020B0604020202020204" pitchFamily="34" charset="0"/>
              <a:buChar char="•"/>
            </a:pPr>
            <a:r>
              <a:rPr lang="en-US" sz="1600" dirty="0">
                <a:solidFill>
                  <a:schemeClr val="dk1"/>
                </a:solidFill>
              </a:rPr>
              <a:t>Determines whether or not to use the Validator.</a:t>
            </a:r>
          </a:p>
        </p:txBody>
      </p:sp>
      <p:sp>
        <p:nvSpPr>
          <p:cNvPr id="26" name="Pentagon 25"/>
          <p:cNvSpPr/>
          <p:nvPr/>
        </p:nvSpPr>
        <p:spPr bwMode="gray">
          <a:xfrm>
            <a:off x="411393" y="3167829"/>
            <a:ext cx="3678240" cy="8229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r>
              <a:rPr lang="en-US" dirty="0"/>
              <a:t>ENABLE_VALIDATE_XML = Y</a:t>
            </a:r>
          </a:p>
        </p:txBody>
      </p:sp>
      <p:sp>
        <p:nvSpPr>
          <p:cNvPr id="27" name="Text Placeholder 3"/>
          <p:cNvSpPr txBox="1">
            <a:spLocks/>
          </p:cNvSpPr>
          <p:nvPr/>
        </p:nvSpPr>
        <p:spPr bwMode="gray">
          <a:xfrm>
            <a:off x="4488180" y="4945251"/>
            <a:ext cx="6804660" cy="1722120"/>
          </a:xfrm>
          <a:prstGeom prst="rect">
            <a:avLst/>
          </a:prstGeom>
        </p:spPr>
        <p:txBody>
          <a:bodyPr vert="horz" lIns="0" tIns="0" rIns="0" bIns="0" rtlCol="0">
            <a:noAutofit/>
          </a:bodyPr>
          <a:lstStyle/>
          <a:p>
            <a:pPr marL="285750" indent="-285750" defTabSz="457200">
              <a:buFont typeface="Arial" panose="020B0604020202020204" pitchFamily="34" charset="0"/>
              <a:buChar char="•"/>
              <a:defRPr/>
            </a:pPr>
            <a:r>
              <a:rPr lang="en-US" sz="1600" dirty="0">
                <a:solidFill>
                  <a:schemeClr val="dk1"/>
                </a:solidFill>
              </a:rPr>
              <a:t>Invalidates the XML if it is invalid or faulty.</a:t>
            </a:r>
          </a:p>
          <a:p>
            <a:pPr marL="285750" lvl="0" indent="-285750" defTabSz="457200">
              <a:buFont typeface="Arial" panose="020B0604020202020204" pitchFamily="34" charset="0"/>
              <a:buChar char="•"/>
              <a:defRPr/>
            </a:pPr>
            <a:r>
              <a:rPr lang="en-US" sz="1600" dirty="0"/>
              <a:t>If the value of switch is Y and a faulty XML is found, exception would be thrown and that particular XML would be skipped for further processing</a:t>
            </a:r>
            <a:r>
              <a:rPr lang="en-US" sz="1600" dirty="0">
                <a:solidFill>
                  <a:schemeClr val="dk1"/>
                </a:solidFill>
              </a:rPr>
              <a:t>.</a:t>
            </a:r>
          </a:p>
          <a:p>
            <a:pPr marL="285750" lvl="0" indent="-285750" defTabSz="457200">
              <a:buFont typeface="Arial" panose="020B0604020202020204" pitchFamily="34" charset="0"/>
              <a:buChar char="•"/>
              <a:defRPr/>
            </a:pPr>
            <a:r>
              <a:rPr lang="en-US" sz="1600" dirty="0"/>
              <a:t>In case value of switch is N, we would go ahead with the existing implementation of passing the XML String to HPE and failing PDF creation at HPE level.</a:t>
            </a:r>
          </a:p>
        </p:txBody>
      </p:sp>
      <p:sp>
        <p:nvSpPr>
          <p:cNvPr id="28" name="Pentagon 27"/>
          <p:cNvSpPr/>
          <p:nvPr/>
        </p:nvSpPr>
        <p:spPr bwMode="gray">
          <a:xfrm>
            <a:off x="411393" y="5104897"/>
            <a:ext cx="3678240" cy="8229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r>
              <a:rPr lang="en-US" dirty="0"/>
              <a:t>SUPPRESS_TRIGGER = Y</a:t>
            </a:r>
          </a:p>
        </p:txBody>
      </p:sp>
      <p:sp>
        <p:nvSpPr>
          <p:cNvPr id="14" name="Text Placeholder 3"/>
          <p:cNvSpPr txBox="1">
            <a:spLocks/>
          </p:cNvSpPr>
          <p:nvPr/>
        </p:nvSpPr>
        <p:spPr>
          <a:xfrm>
            <a:off x="259081" y="1310640"/>
            <a:ext cx="10507980" cy="1320843"/>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800" b="1" dirty="0"/>
              <a:t>The current implementation of the XML Validator will be a switch based approach. The validator checks for well formedness, missing tags, improper data type and validates the XML properly against the XSD . In the current implementation we would be checking the single xml as and when it is generated. The earlier implementation skipped this validation check and wrote the contents directly to the temporary location.</a:t>
            </a:r>
          </a:p>
          <a:p>
            <a:r>
              <a:rPr lang="en-US" sz="1800" b="1" dirty="0"/>
              <a:t>The following switches would be added in </a:t>
            </a:r>
            <a:r>
              <a:rPr lang="en-US" sz="1800" b="1" dirty="0" err="1"/>
              <a:t>correspondence.properties</a:t>
            </a:r>
            <a:endParaRPr lang="en-US" sz="1800" b="1" dirty="0"/>
          </a:p>
        </p:txBody>
      </p:sp>
    </p:spTree>
    <p:extLst>
      <p:ext uri="{BB962C8B-B14F-4D97-AF65-F5344CB8AC3E}">
        <p14:creationId xmlns:p14="http://schemas.microsoft.com/office/powerpoint/2010/main" val="300680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05973" y="1695816"/>
            <a:ext cx="11463020" cy="529721"/>
          </a:xfrm>
        </p:spPr>
        <p:txBody>
          <a:bodyPr/>
          <a:lstStyle/>
          <a:p>
            <a:r>
              <a:rPr lang="en-US" sz="3200" b="1" dirty="0">
                <a:cs typeface="Aldhabi" panose="01000000000000000000" pitchFamily="2" charset="-78"/>
              </a:rPr>
              <a:t> </a:t>
            </a:r>
            <a:endParaRPr lang="en-US" sz="3200" b="1" noProof="0" dirty="0"/>
          </a:p>
        </p:txBody>
      </p:sp>
      <p:sp>
        <p:nvSpPr>
          <p:cNvPr id="27" name="Text Placeholder 3"/>
          <p:cNvSpPr txBox="1">
            <a:spLocks/>
          </p:cNvSpPr>
          <p:nvPr/>
        </p:nvSpPr>
        <p:spPr bwMode="gray">
          <a:xfrm>
            <a:off x="5553379" y="5644435"/>
            <a:ext cx="6598920" cy="1013460"/>
          </a:xfrm>
          <a:prstGeom prst="rect">
            <a:avLst/>
          </a:prstGeom>
        </p:spPr>
        <p:txBody>
          <a:bodyPr vert="horz" lIns="0" tIns="0" rIns="0" bIns="0" rtlCol="0">
            <a:noAutofit/>
          </a:bodyPr>
          <a:lstStyle/>
          <a:p>
            <a:endParaRPr lang="en-US" sz="1600" b="1" dirty="0"/>
          </a:p>
        </p:txBody>
      </p:sp>
      <p:sp>
        <p:nvSpPr>
          <p:cNvPr id="13" name="Rectangle 12">
            <a:extLst>
              <a:ext uri="{FF2B5EF4-FFF2-40B4-BE49-F238E27FC236}">
                <a16:creationId xmlns:a16="http://schemas.microsoft.com/office/drawing/2014/main" id="{F9378EBA-0B22-4E72-A540-5564A284E202}"/>
              </a:ext>
            </a:extLst>
          </p:cNvPr>
          <p:cNvSpPr/>
          <p:nvPr/>
        </p:nvSpPr>
        <p:spPr>
          <a:xfrm>
            <a:off x="2272425" y="423646"/>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CoCommonBatchDriver</a:t>
            </a:r>
            <a:r>
              <a:rPr lang="en-US" sz="1400" dirty="0"/>
              <a:t> Started</a:t>
            </a:r>
          </a:p>
        </p:txBody>
      </p:sp>
      <p:sp>
        <p:nvSpPr>
          <p:cNvPr id="24" name="Rectangle 23">
            <a:extLst>
              <a:ext uri="{FF2B5EF4-FFF2-40B4-BE49-F238E27FC236}">
                <a16:creationId xmlns:a16="http://schemas.microsoft.com/office/drawing/2014/main" id="{3D5DA948-701C-4B47-8BE0-55110FA7CF0C}"/>
              </a:ext>
            </a:extLst>
          </p:cNvPr>
          <p:cNvSpPr/>
          <p:nvPr/>
        </p:nvSpPr>
        <p:spPr>
          <a:xfrm>
            <a:off x="2272425" y="1673325"/>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Generate XML</a:t>
            </a:r>
          </a:p>
        </p:txBody>
      </p:sp>
      <p:sp>
        <p:nvSpPr>
          <p:cNvPr id="29" name="Rectangle 28">
            <a:extLst>
              <a:ext uri="{FF2B5EF4-FFF2-40B4-BE49-F238E27FC236}">
                <a16:creationId xmlns:a16="http://schemas.microsoft.com/office/drawing/2014/main" id="{591646D0-6831-445F-9940-4AC627188D51}"/>
              </a:ext>
            </a:extLst>
          </p:cNvPr>
          <p:cNvSpPr/>
          <p:nvPr/>
        </p:nvSpPr>
        <p:spPr>
          <a:xfrm>
            <a:off x="4963374" y="3158344"/>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XML Validation</a:t>
            </a:r>
          </a:p>
        </p:txBody>
      </p:sp>
      <p:sp>
        <p:nvSpPr>
          <p:cNvPr id="14" name="Diamond 13">
            <a:extLst>
              <a:ext uri="{FF2B5EF4-FFF2-40B4-BE49-F238E27FC236}">
                <a16:creationId xmlns:a16="http://schemas.microsoft.com/office/drawing/2014/main" id="{DE28462C-B253-45E9-A6B6-D8EB5A57A37E}"/>
              </a:ext>
            </a:extLst>
          </p:cNvPr>
          <p:cNvSpPr/>
          <p:nvPr/>
        </p:nvSpPr>
        <p:spPr>
          <a:xfrm>
            <a:off x="2381282" y="2783669"/>
            <a:ext cx="1828800" cy="134112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a:t>
            </a:r>
          </a:p>
          <a:p>
            <a:pPr algn="ctr"/>
            <a:endParaRPr lang="en-US" sz="800" dirty="0"/>
          </a:p>
          <a:p>
            <a:pPr algn="ctr"/>
            <a:r>
              <a:rPr lang="en-US" sz="1100" dirty="0"/>
              <a:t>ENABLE_VALIDATE_XML = Y</a:t>
            </a:r>
          </a:p>
          <a:p>
            <a:pPr algn="ctr"/>
            <a:endParaRPr lang="en-US" dirty="0"/>
          </a:p>
        </p:txBody>
      </p:sp>
      <p:sp>
        <p:nvSpPr>
          <p:cNvPr id="30" name="Diamond 29">
            <a:extLst>
              <a:ext uri="{FF2B5EF4-FFF2-40B4-BE49-F238E27FC236}">
                <a16:creationId xmlns:a16="http://schemas.microsoft.com/office/drawing/2014/main" id="{B489F7AA-828A-4C77-A17A-B2B4A913E326}"/>
              </a:ext>
            </a:extLst>
          </p:cNvPr>
          <p:cNvSpPr/>
          <p:nvPr/>
        </p:nvSpPr>
        <p:spPr>
          <a:xfrm>
            <a:off x="5072231" y="4442652"/>
            <a:ext cx="1828800" cy="134112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a:p>
            <a:pPr algn="ctr"/>
            <a:r>
              <a:rPr lang="en-US" sz="1600" dirty="0"/>
              <a:t>XML is Valid</a:t>
            </a:r>
          </a:p>
          <a:p>
            <a:pPr algn="ctr"/>
            <a:endParaRPr lang="en-US" dirty="0"/>
          </a:p>
        </p:txBody>
      </p:sp>
      <p:sp>
        <p:nvSpPr>
          <p:cNvPr id="31" name="Diamond 30">
            <a:extLst>
              <a:ext uri="{FF2B5EF4-FFF2-40B4-BE49-F238E27FC236}">
                <a16:creationId xmlns:a16="http://schemas.microsoft.com/office/drawing/2014/main" id="{219315EA-AE0F-4661-845F-23F6A1153821}"/>
              </a:ext>
            </a:extLst>
          </p:cNvPr>
          <p:cNvSpPr/>
          <p:nvPr/>
        </p:nvSpPr>
        <p:spPr>
          <a:xfrm>
            <a:off x="7649967" y="2783669"/>
            <a:ext cx="1828800" cy="134112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a:p>
            <a:pPr algn="ctr"/>
            <a:r>
              <a:rPr lang="en-US" sz="1200" dirty="0"/>
              <a:t>SUPPRESS_TRIGGER=Y</a:t>
            </a:r>
          </a:p>
          <a:p>
            <a:pPr algn="ctr"/>
            <a:endParaRPr lang="en-US" dirty="0"/>
          </a:p>
        </p:txBody>
      </p:sp>
      <p:sp>
        <p:nvSpPr>
          <p:cNvPr id="34" name="Rectangle 33">
            <a:extLst>
              <a:ext uri="{FF2B5EF4-FFF2-40B4-BE49-F238E27FC236}">
                <a16:creationId xmlns:a16="http://schemas.microsoft.com/office/drawing/2014/main" id="{CCD1E35D-86B6-4EFC-9815-5837657A891A}"/>
              </a:ext>
            </a:extLst>
          </p:cNvPr>
          <p:cNvSpPr/>
          <p:nvPr/>
        </p:nvSpPr>
        <p:spPr>
          <a:xfrm>
            <a:off x="2272425" y="4817327"/>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Write to temporary location to be picked up by HPE</a:t>
            </a:r>
          </a:p>
        </p:txBody>
      </p:sp>
      <p:cxnSp>
        <p:nvCxnSpPr>
          <p:cNvPr id="22" name="Straight Arrow Connector 21">
            <a:extLst>
              <a:ext uri="{FF2B5EF4-FFF2-40B4-BE49-F238E27FC236}">
                <a16:creationId xmlns:a16="http://schemas.microsoft.com/office/drawing/2014/main" id="{D3535390-5EDB-49F2-977D-CF5C806AE27B}"/>
              </a:ext>
            </a:extLst>
          </p:cNvPr>
          <p:cNvCxnSpPr>
            <a:stCxn id="13" idx="2"/>
            <a:endCxn id="24" idx="0"/>
          </p:cNvCxnSpPr>
          <p:nvPr/>
        </p:nvCxnSpPr>
        <p:spPr>
          <a:xfrm>
            <a:off x="3295682" y="1015416"/>
            <a:ext cx="0" cy="657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3541D71-6488-4F6D-8984-5AC5BC067FF9}"/>
              </a:ext>
            </a:extLst>
          </p:cNvPr>
          <p:cNvCxnSpPr>
            <a:stCxn id="24" idx="2"/>
            <a:endCxn id="14" idx="0"/>
          </p:cNvCxnSpPr>
          <p:nvPr/>
        </p:nvCxnSpPr>
        <p:spPr>
          <a:xfrm>
            <a:off x="3295682" y="2265095"/>
            <a:ext cx="0" cy="518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2338F46-2425-497E-9ED6-F43E3B8D8D11}"/>
              </a:ext>
            </a:extLst>
          </p:cNvPr>
          <p:cNvCxnSpPr>
            <a:stCxn id="14" idx="3"/>
            <a:endCxn id="29" idx="1"/>
          </p:cNvCxnSpPr>
          <p:nvPr/>
        </p:nvCxnSpPr>
        <p:spPr>
          <a:xfrm>
            <a:off x="4210082" y="3454229"/>
            <a:ext cx="7532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54E9942-537D-410C-9B52-81C6B0939E9F}"/>
              </a:ext>
            </a:extLst>
          </p:cNvPr>
          <p:cNvCxnSpPr>
            <a:stCxn id="29" idx="2"/>
            <a:endCxn id="30" idx="0"/>
          </p:cNvCxnSpPr>
          <p:nvPr/>
        </p:nvCxnSpPr>
        <p:spPr>
          <a:xfrm>
            <a:off x="5986631" y="3750114"/>
            <a:ext cx="0" cy="692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D74C507-A82D-45DA-B447-0029C56562EE}"/>
              </a:ext>
            </a:extLst>
          </p:cNvPr>
          <p:cNvCxnSpPr>
            <a:stCxn id="30" idx="1"/>
            <a:endCxn id="34" idx="3"/>
          </p:cNvCxnSpPr>
          <p:nvPr/>
        </p:nvCxnSpPr>
        <p:spPr>
          <a:xfrm flipH="1">
            <a:off x="4318939" y="5113212"/>
            <a:ext cx="7532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B4CB670-66A0-463B-831A-8DCFD20546CE}"/>
              </a:ext>
            </a:extLst>
          </p:cNvPr>
          <p:cNvCxnSpPr>
            <a:stCxn id="14" idx="2"/>
            <a:endCxn id="34" idx="0"/>
          </p:cNvCxnSpPr>
          <p:nvPr/>
        </p:nvCxnSpPr>
        <p:spPr>
          <a:xfrm>
            <a:off x="3295682" y="4124789"/>
            <a:ext cx="0" cy="692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E687E7AC-0D79-42B9-9260-F9B052939306}"/>
              </a:ext>
            </a:extLst>
          </p:cNvPr>
          <p:cNvCxnSpPr>
            <a:stCxn id="34" idx="1"/>
            <a:endCxn id="24" idx="1"/>
          </p:cNvCxnSpPr>
          <p:nvPr/>
        </p:nvCxnSpPr>
        <p:spPr>
          <a:xfrm rot="10800000">
            <a:off x="2272425" y="1969210"/>
            <a:ext cx="12700" cy="3144002"/>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DD0B0679-C3F4-4145-8730-A1D1982EE719}"/>
              </a:ext>
            </a:extLst>
          </p:cNvPr>
          <p:cNvCxnSpPr>
            <a:stCxn id="31" idx="3"/>
            <a:endCxn id="34" idx="2"/>
          </p:cNvCxnSpPr>
          <p:nvPr/>
        </p:nvCxnSpPr>
        <p:spPr>
          <a:xfrm flipH="1">
            <a:off x="3295682" y="3454229"/>
            <a:ext cx="6183085" cy="1954868"/>
          </a:xfrm>
          <a:prstGeom prst="bentConnector4">
            <a:avLst>
              <a:gd name="adj1" fmla="val -3697"/>
              <a:gd name="adj2" fmla="val 137977"/>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49573AF5-539A-4F8A-BC5E-5734B6F56ED6}"/>
              </a:ext>
            </a:extLst>
          </p:cNvPr>
          <p:cNvSpPr txBox="1"/>
          <p:nvPr/>
        </p:nvSpPr>
        <p:spPr>
          <a:xfrm>
            <a:off x="4514883" y="4738123"/>
            <a:ext cx="1114694" cy="369332"/>
          </a:xfrm>
          <a:prstGeom prst="rect">
            <a:avLst/>
          </a:prstGeom>
          <a:noFill/>
        </p:spPr>
        <p:txBody>
          <a:bodyPr wrap="square" rtlCol="0">
            <a:spAutoFit/>
          </a:bodyPr>
          <a:lstStyle/>
          <a:p>
            <a:r>
              <a:rPr lang="en-US" dirty="0"/>
              <a:t>YES</a:t>
            </a:r>
          </a:p>
        </p:txBody>
      </p:sp>
      <p:sp>
        <p:nvSpPr>
          <p:cNvPr id="79" name="TextBox 78">
            <a:extLst>
              <a:ext uri="{FF2B5EF4-FFF2-40B4-BE49-F238E27FC236}">
                <a16:creationId xmlns:a16="http://schemas.microsoft.com/office/drawing/2014/main" id="{3A60B07C-312C-4133-B96A-94149AD2DFEC}"/>
              </a:ext>
            </a:extLst>
          </p:cNvPr>
          <p:cNvSpPr txBox="1"/>
          <p:nvPr/>
        </p:nvSpPr>
        <p:spPr>
          <a:xfrm>
            <a:off x="4306238" y="3048174"/>
            <a:ext cx="1114694" cy="369332"/>
          </a:xfrm>
          <a:prstGeom prst="rect">
            <a:avLst/>
          </a:prstGeom>
          <a:noFill/>
        </p:spPr>
        <p:txBody>
          <a:bodyPr wrap="square" rtlCol="0">
            <a:spAutoFit/>
          </a:bodyPr>
          <a:lstStyle/>
          <a:p>
            <a:r>
              <a:rPr lang="en-US" dirty="0"/>
              <a:t>YES</a:t>
            </a:r>
          </a:p>
        </p:txBody>
      </p:sp>
      <p:sp>
        <p:nvSpPr>
          <p:cNvPr id="81" name="TextBox 80">
            <a:extLst>
              <a:ext uri="{FF2B5EF4-FFF2-40B4-BE49-F238E27FC236}">
                <a16:creationId xmlns:a16="http://schemas.microsoft.com/office/drawing/2014/main" id="{C6DE18BF-97DB-4937-9E7A-989DDC05E9E6}"/>
              </a:ext>
            </a:extLst>
          </p:cNvPr>
          <p:cNvSpPr txBox="1"/>
          <p:nvPr/>
        </p:nvSpPr>
        <p:spPr>
          <a:xfrm>
            <a:off x="9827110" y="4675200"/>
            <a:ext cx="1114694" cy="369332"/>
          </a:xfrm>
          <a:prstGeom prst="rect">
            <a:avLst/>
          </a:prstGeom>
          <a:noFill/>
        </p:spPr>
        <p:txBody>
          <a:bodyPr wrap="square" rtlCol="0">
            <a:spAutoFit/>
          </a:bodyPr>
          <a:lstStyle/>
          <a:p>
            <a:r>
              <a:rPr lang="en-US" dirty="0"/>
              <a:t>NO</a:t>
            </a:r>
          </a:p>
        </p:txBody>
      </p:sp>
      <p:sp>
        <p:nvSpPr>
          <p:cNvPr id="82" name="TextBox 81">
            <a:extLst>
              <a:ext uri="{FF2B5EF4-FFF2-40B4-BE49-F238E27FC236}">
                <a16:creationId xmlns:a16="http://schemas.microsoft.com/office/drawing/2014/main" id="{130A7629-FA1A-4F91-B21C-B3430627DB51}"/>
              </a:ext>
            </a:extLst>
          </p:cNvPr>
          <p:cNvSpPr txBox="1"/>
          <p:nvPr/>
        </p:nvSpPr>
        <p:spPr>
          <a:xfrm>
            <a:off x="3073616" y="4212657"/>
            <a:ext cx="1114694" cy="369332"/>
          </a:xfrm>
          <a:prstGeom prst="rect">
            <a:avLst/>
          </a:prstGeom>
          <a:noFill/>
        </p:spPr>
        <p:txBody>
          <a:bodyPr wrap="square" rtlCol="0">
            <a:spAutoFit/>
          </a:bodyPr>
          <a:lstStyle/>
          <a:p>
            <a:r>
              <a:rPr lang="en-US" dirty="0"/>
              <a:t>NO</a:t>
            </a:r>
          </a:p>
        </p:txBody>
      </p:sp>
      <p:sp>
        <p:nvSpPr>
          <p:cNvPr id="90" name="Rectangle 89">
            <a:extLst>
              <a:ext uri="{FF2B5EF4-FFF2-40B4-BE49-F238E27FC236}">
                <a16:creationId xmlns:a16="http://schemas.microsoft.com/office/drawing/2014/main" id="{A67745EF-D530-4A8D-BFE3-FF60B451D7AA}"/>
              </a:ext>
            </a:extLst>
          </p:cNvPr>
          <p:cNvSpPr/>
          <p:nvPr/>
        </p:nvSpPr>
        <p:spPr>
          <a:xfrm>
            <a:off x="7541110" y="1679264"/>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Throws exception</a:t>
            </a:r>
          </a:p>
        </p:txBody>
      </p:sp>
      <p:sp>
        <p:nvSpPr>
          <p:cNvPr id="91" name="Rectangle 90">
            <a:extLst>
              <a:ext uri="{FF2B5EF4-FFF2-40B4-BE49-F238E27FC236}">
                <a16:creationId xmlns:a16="http://schemas.microsoft.com/office/drawing/2014/main" id="{EC2E9767-AF12-4ACB-B4F5-FE073440D82A}"/>
              </a:ext>
            </a:extLst>
          </p:cNvPr>
          <p:cNvSpPr/>
          <p:nvPr/>
        </p:nvSpPr>
        <p:spPr>
          <a:xfrm>
            <a:off x="4764613" y="1673325"/>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Picks up next Record</a:t>
            </a:r>
          </a:p>
        </p:txBody>
      </p:sp>
      <p:cxnSp>
        <p:nvCxnSpPr>
          <p:cNvPr id="93" name="Straight Arrow Connector 92">
            <a:extLst>
              <a:ext uri="{FF2B5EF4-FFF2-40B4-BE49-F238E27FC236}">
                <a16:creationId xmlns:a16="http://schemas.microsoft.com/office/drawing/2014/main" id="{D766A3E1-493D-44FE-9FDA-B1CA3EE478F7}"/>
              </a:ext>
            </a:extLst>
          </p:cNvPr>
          <p:cNvCxnSpPr>
            <a:stCxn id="31" idx="0"/>
            <a:endCxn id="90" idx="2"/>
          </p:cNvCxnSpPr>
          <p:nvPr/>
        </p:nvCxnSpPr>
        <p:spPr>
          <a:xfrm flipV="1">
            <a:off x="8564367" y="2271034"/>
            <a:ext cx="0" cy="512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247A1D7E-D675-4107-8D17-B82FE94C92D8}"/>
              </a:ext>
            </a:extLst>
          </p:cNvPr>
          <p:cNvCxnSpPr>
            <a:stCxn id="90" idx="1"/>
            <a:endCxn id="91" idx="3"/>
          </p:cNvCxnSpPr>
          <p:nvPr/>
        </p:nvCxnSpPr>
        <p:spPr>
          <a:xfrm flipH="1" flipV="1">
            <a:off x="6811127" y="1969210"/>
            <a:ext cx="729983" cy="5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95F0EE58-D138-4E45-A0D9-8117124D044F}"/>
              </a:ext>
            </a:extLst>
          </p:cNvPr>
          <p:cNvCxnSpPr>
            <a:stCxn id="91" idx="1"/>
            <a:endCxn id="24" idx="3"/>
          </p:cNvCxnSpPr>
          <p:nvPr/>
        </p:nvCxnSpPr>
        <p:spPr>
          <a:xfrm flipH="1">
            <a:off x="4318939" y="1969210"/>
            <a:ext cx="4456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C5BCC029-E271-4413-B84B-47A1672FA261}"/>
              </a:ext>
            </a:extLst>
          </p:cNvPr>
          <p:cNvSpPr txBox="1"/>
          <p:nvPr/>
        </p:nvSpPr>
        <p:spPr>
          <a:xfrm>
            <a:off x="8533223" y="2414336"/>
            <a:ext cx="1114694" cy="369332"/>
          </a:xfrm>
          <a:prstGeom prst="rect">
            <a:avLst/>
          </a:prstGeom>
          <a:noFill/>
        </p:spPr>
        <p:txBody>
          <a:bodyPr wrap="square" rtlCol="0">
            <a:spAutoFit/>
          </a:bodyPr>
          <a:lstStyle/>
          <a:p>
            <a:r>
              <a:rPr lang="en-US" dirty="0"/>
              <a:t>YES</a:t>
            </a:r>
          </a:p>
        </p:txBody>
      </p:sp>
      <p:sp>
        <p:nvSpPr>
          <p:cNvPr id="35" name="Rectangle 34">
            <a:extLst>
              <a:ext uri="{FF2B5EF4-FFF2-40B4-BE49-F238E27FC236}">
                <a16:creationId xmlns:a16="http://schemas.microsoft.com/office/drawing/2014/main" id="{5F881BC0-0143-4710-B750-7D6FE0E032ED}"/>
              </a:ext>
            </a:extLst>
          </p:cNvPr>
          <p:cNvSpPr/>
          <p:nvPr/>
        </p:nvSpPr>
        <p:spPr>
          <a:xfrm>
            <a:off x="7541110" y="4802277"/>
            <a:ext cx="2046514" cy="59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Logs Invalid XML File</a:t>
            </a:r>
          </a:p>
        </p:txBody>
      </p:sp>
      <p:cxnSp>
        <p:nvCxnSpPr>
          <p:cNvPr id="7" name="Straight Arrow Connector 6">
            <a:extLst>
              <a:ext uri="{FF2B5EF4-FFF2-40B4-BE49-F238E27FC236}">
                <a16:creationId xmlns:a16="http://schemas.microsoft.com/office/drawing/2014/main" id="{D3F60F6D-60BB-4978-A259-48D8D76EDB06}"/>
              </a:ext>
            </a:extLst>
          </p:cNvPr>
          <p:cNvCxnSpPr>
            <a:stCxn id="30" idx="3"/>
            <a:endCxn id="35" idx="1"/>
          </p:cNvCxnSpPr>
          <p:nvPr/>
        </p:nvCxnSpPr>
        <p:spPr>
          <a:xfrm flipV="1">
            <a:off x="6901031" y="5098162"/>
            <a:ext cx="640079" cy="15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241289C-C837-4D30-B343-2A9F636258D2}"/>
              </a:ext>
            </a:extLst>
          </p:cNvPr>
          <p:cNvCxnSpPr>
            <a:stCxn id="35" idx="0"/>
            <a:endCxn id="31" idx="2"/>
          </p:cNvCxnSpPr>
          <p:nvPr/>
        </p:nvCxnSpPr>
        <p:spPr>
          <a:xfrm flipV="1">
            <a:off x="8564367" y="4124789"/>
            <a:ext cx="0" cy="677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326A9D-A0B2-4CF9-99E7-1DAB2AF74B3A}"/>
              </a:ext>
            </a:extLst>
          </p:cNvPr>
          <p:cNvSpPr txBox="1"/>
          <p:nvPr/>
        </p:nvSpPr>
        <p:spPr>
          <a:xfrm>
            <a:off x="6901030" y="4748643"/>
            <a:ext cx="1114694" cy="36933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245829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015910" y="3909060"/>
            <a:ext cx="10508456" cy="1578769"/>
          </a:xfrm>
        </p:spPr>
        <p:txBody>
          <a:bodyPr>
            <a:noAutofit/>
          </a:bodyPr>
          <a:lstStyle/>
          <a:p>
            <a:r>
              <a:rPr lang="en-US" sz="4400" dirty="0"/>
              <a:t>Scenarios</a:t>
            </a:r>
          </a:p>
        </p:txBody>
      </p:sp>
      <p:pic>
        <p:nvPicPr>
          <p:cNvPr id="9" name="Picture Placeholder 8"/>
          <p:cNvPicPr>
            <a:picLocks noGrp="1" noChangeAspect="1"/>
          </p:cNvPicPr>
          <p:nvPr>
            <p:ph type="pic" sz="quarter" idx="11"/>
          </p:nvPr>
        </p:nvPicPr>
        <p:blipFill>
          <a:blip r:embed="rId3"/>
          <a:srcRect l="15" r="15"/>
          <a:stretch>
            <a:fillRect/>
          </a:stretch>
        </p:blipFill>
        <p:spPr>
          <a:xfrm>
            <a:off x="3043238" y="-71438"/>
            <a:ext cx="6036467" cy="4769883"/>
          </a:xfrm>
        </p:spPr>
      </p:pic>
    </p:spTree>
    <p:extLst>
      <p:ext uri="{BB962C8B-B14F-4D97-AF65-F5344CB8AC3E}">
        <p14:creationId xmlns:p14="http://schemas.microsoft.com/office/powerpoint/2010/main" val="307871318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2562" y="611935"/>
            <a:ext cx="8284369" cy="1106487"/>
          </a:xfrm>
        </p:spPr>
        <p:txBody>
          <a:bodyPr>
            <a:normAutofit/>
          </a:bodyPr>
          <a:lstStyle/>
          <a:p>
            <a:pPr algn="l"/>
            <a:r>
              <a:rPr lang="en-US" sz="3600" b="1" dirty="0">
                <a:cs typeface="Aldhabi" panose="01000000000000000000" pitchFamily="2" charset="-78"/>
              </a:rPr>
              <a:t>Scenario  1</a:t>
            </a:r>
          </a:p>
        </p:txBody>
      </p:sp>
      <p:sp>
        <p:nvSpPr>
          <p:cNvPr id="5" name="TextBox 4"/>
          <p:cNvSpPr txBox="1"/>
          <p:nvPr/>
        </p:nvSpPr>
        <p:spPr>
          <a:xfrm>
            <a:off x="1452562" y="1997839"/>
            <a:ext cx="9710738" cy="2862322"/>
          </a:xfrm>
          <a:prstGeom prst="rect">
            <a:avLst/>
          </a:prstGeom>
          <a:noFill/>
        </p:spPr>
        <p:txBody>
          <a:bodyPr wrap="square" rtlCol="0">
            <a:spAutoFit/>
          </a:bodyPr>
          <a:lstStyle/>
          <a:p>
            <a:endParaRPr lang="en-US" b="1" dirty="0"/>
          </a:p>
          <a:p>
            <a:r>
              <a:rPr lang="en-US" b="1" dirty="0"/>
              <a:t>All XML’s Valid with ENABLE_VALIDATE_XML=Y and SUPPRESS_TRIGGER = Y</a:t>
            </a:r>
          </a:p>
          <a:p>
            <a:endParaRPr lang="en-US" b="1" dirty="0"/>
          </a:p>
          <a:p>
            <a:r>
              <a:rPr lang="en-US" dirty="0"/>
              <a:t>The XML’s were written to the temporary location to be picked up by HPE for further processing.</a:t>
            </a:r>
          </a:p>
          <a:p>
            <a:endParaRPr lang="en-US" b="1" dirty="0"/>
          </a:p>
          <a:p>
            <a:r>
              <a:rPr lang="en-US" b="1" dirty="0"/>
              <a:t>All XML’s Valid with ENABLE_VALIDATE_XML=Y and SUPPRESS_TRIGGER = N</a:t>
            </a:r>
          </a:p>
          <a:p>
            <a:endParaRPr lang="en-US" b="1" dirty="0"/>
          </a:p>
          <a:p>
            <a:r>
              <a:rPr lang="en-US" dirty="0"/>
              <a:t>The same behavior as the previous case was encountered.</a:t>
            </a:r>
          </a:p>
          <a:p>
            <a:endParaRPr lang="en-US" b="1" dirty="0"/>
          </a:p>
          <a:p>
            <a:endParaRPr lang="en-US" dirty="0"/>
          </a:p>
        </p:txBody>
      </p:sp>
    </p:spTree>
    <p:extLst>
      <p:ext uri="{BB962C8B-B14F-4D97-AF65-F5344CB8AC3E}">
        <p14:creationId xmlns:p14="http://schemas.microsoft.com/office/powerpoint/2010/main" val="2676274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2562" y="432641"/>
            <a:ext cx="8284369" cy="1106487"/>
          </a:xfrm>
        </p:spPr>
        <p:txBody>
          <a:bodyPr>
            <a:normAutofit/>
          </a:bodyPr>
          <a:lstStyle/>
          <a:p>
            <a:pPr algn="l"/>
            <a:r>
              <a:rPr lang="en-US" sz="3600" b="1" dirty="0">
                <a:cs typeface="Aldhabi" panose="01000000000000000000" pitchFamily="2" charset="-78"/>
              </a:rPr>
              <a:t>Scenario  2</a:t>
            </a:r>
          </a:p>
        </p:txBody>
      </p:sp>
      <p:sp>
        <p:nvSpPr>
          <p:cNvPr id="5" name="TextBox 4"/>
          <p:cNvSpPr txBox="1"/>
          <p:nvPr/>
        </p:nvSpPr>
        <p:spPr>
          <a:xfrm>
            <a:off x="1452562" y="1692537"/>
            <a:ext cx="9710738" cy="3970318"/>
          </a:xfrm>
          <a:prstGeom prst="rect">
            <a:avLst/>
          </a:prstGeom>
          <a:noFill/>
        </p:spPr>
        <p:txBody>
          <a:bodyPr wrap="square" rtlCol="0">
            <a:spAutoFit/>
          </a:bodyPr>
          <a:lstStyle/>
          <a:p>
            <a:endParaRPr lang="en-US" dirty="0"/>
          </a:p>
          <a:p>
            <a:r>
              <a:rPr lang="en-US" b="1" dirty="0"/>
              <a:t>All or few XML’s Invalid with ENABLE_VALIDATE_XML=Y and SUPPRESS_TRIGGER = Y</a:t>
            </a:r>
          </a:p>
          <a:p>
            <a:endParaRPr lang="en-US" b="1" dirty="0"/>
          </a:p>
          <a:p>
            <a:r>
              <a:rPr lang="en-US" dirty="0"/>
              <a:t>The invalid XML’s along with the Exception Description, </a:t>
            </a:r>
            <a:r>
              <a:rPr lang="en-US" dirty="0" err="1"/>
              <a:t>DocId</a:t>
            </a:r>
            <a:r>
              <a:rPr lang="en-US" dirty="0"/>
              <a:t>, Version and Time Stamp would be logged in the logs. The XML  would be skipped for further processing(will not be written to temporary location from where HPE picks it up). Further processing can be done on the XML by picking it up from the logs and examining it.</a:t>
            </a:r>
          </a:p>
          <a:p>
            <a:endParaRPr lang="en-US" b="1" dirty="0"/>
          </a:p>
          <a:p>
            <a:r>
              <a:rPr lang="en-US" b="1" dirty="0"/>
              <a:t>All or few XML’s Invalid with ENABLE_VALIDATE_XML=Y and SUPPRESS_TRIGGER = N</a:t>
            </a:r>
          </a:p>
          <a:p>
            <a:endParaRPr lang="en-US" b="1" dirty="0"/>
          </a:p>
          <a:p>
            <a:r>
              <a:rPr lang="en-US" dirty="0"/>
              <a:t>The invalid XML’s along with the Exception Description, </a:t>
            </a:r>
            <a:r>
              <a:rPr lang="en-US" dirty="0" err="1"/>
              <a:t>DocId</a:t>
            </a:r>
            <a:r>
              <a:rPr lang="en-US" dirty="0"/>
              <a:t>, Version and Time Stamp would be logged in the logs. The XML  would however be eligible and passed on for further processing. The PDF creation would be failed at the HPE level.</a:t>
            </a:r>
          </a:p>
          <a:p>
            <a:endParaRPr lang="en-US" dirty="0"/>
          </a:p>
        </p:txBody>
      </p:sp>
    </p:spTree>
    <p:extLst>
      <p:ext uri="{BB962C8B-B14F-4D97-AF65-F5344CB8AC3E}">
        <p14:creationId xmlns:p14="http://schemas.microsoft.com/office/powerpoint/2010/main" val="3556615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532BDEA-39F4-4EDE-905F-2E79ED85B3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3113" y="161365"/>
            <a:ext cx="10369616" cy="6580093"/>
          </a:xfrm>
        </p:spPr>
      </p:pic>
    </p:spTree>
    <p:extLst>
      <p:ext uri="{BB962C8B-B14F-4D97-AF65-F5344CB8AC3E}">
        <p14:creationId xmlns:p14="http://schemas.microsoft.com/office/powerpoint/2010/main" val="1002743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7C2578-CDFD-48F8-8CF3-698EF673D9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718" y="502024"/>
            <a:ext cx="12120282" cy="4786747"/>
          </a:xfrm>
        </p:spPr>
      </p:pic>
    </p:spTree>
    <p:extLst>
      <p:ext uri="{BB962C8B-B14F-4D97-AF65-F5344CB8AC3E}">
        <p14:creationId xmlns:p14="http://schemas.microsoft.com/office/powerpoint/2010/main" val="4125421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285875" y="4243388"/>
            <a:ext cx="10451306" cy="1321594"/>
          </a:xfrm>
        </p:spPr>
        <p:txBody>
          <a:bodyPr>
            <a:noAutofit/>
          </a:bodyPr>
          <a:lstStyle/>
          <a:p>
            <a:r>
              <a:rPr lang="en-US" sz="4400" dirty="0"/>
              <a:t>TEST TIME AND ANALYSIS</a:t>
            </a:r>
          </a:p>
        </p:txBody>
      </p:sp>
      <p:pic>
        <p:nvPicPr>
          <p:cNvPr id="9" name="Picture Placeholder 8"/>
          <p:cNvPicPr>
            <a:picLocks noGrp="1" noChangeAspect="1"/>
          </p:cNvPicPr>
          <p:nvPr>
            <p:ph type="pic" sz="quarter" idx="11"/>
          </p:nvPr>
        </p:nvPicPr>
        <p:blipFill>
          <a:blip r:embed="rId3"/>
          <a:srcRect l="15" r="15"/>
          <a:stretch>
            <a:fillRect/>
          </a:stretch>
        </p:blipFill>
        <p:spPr>
          <a:xfrm>
            <a:off x="3043238" y="-71438"/>
            <a:ext cx="6036467" cy="4769883"/>
          </a:xfrm>
        </p:spPr>
      </p:pic>
    </p:spTree>
    <p:extLst>
      <p:ext uri="{BB962C8B-B14F-4D97-AF65-F5344CB8AC3E}">
        <p14:creationId xmlns:p14="http://schemas.microsoft.com/office/powerpoint/2010/main" val="353236597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D13B6BCA-048B-4DE0-B2E5-29D4CC7A49FA}"/>
              </a:ext>
            </a:extLst>
          </p:cNvPr>
          <p:cNvGraphicFramePr>
            <a:graphicFrameLocks noGrp="1"/>
          </p:cNvGraphicFramePr>
          <p:nvPr>
            <p:extLst>
              <p:ext uri="{D42A27DB-BD31-4B8C-83A1-F6EECF244321}">
                <p14:modId xmlns:p14="http://schemas.microsoft.com/office/powerpoint/2010/main" val="1753163515"/>
              </p:ext>
            </p:extLst>
          </p:nvPr>
        </p:nvGraphicFramePr>
        <p:xfrm>
          <a:off x="469900" y="677266"/>
          <a:ext cx="11129917" cy="2966720"/>
        </p:xfrm>
        <a:graphic>
          <a:graphicData uri="http://schemas.openxmlformats.org/drawingml/2006/table">
            <a:tbl>
              <a:tblPr firstRow="1" bandRow="1">
                <a:tableStyleId>{5C22544A-7EE6-4342-B048-85BDC9FD1C3A}</a:tableStyleId>
              </a:tblPr>
              <a:tblGrid>
                <a:gridCol w="2690767">
                  <a:extLst>
                    <a:ext uri="{9D8B030D-6E8A-4147-A177-3AD203B41FA5}">
                      <a16:colId xmlns:a16="http://schemas.microsoft.com/office/drawing/2014/main" val="3659732347"/>
                    </a:ext>
                  </a:extLst>
                </a:gridCol>
                <a:gridCol w="2813050">
                  <a:extLst>
                    <a:ext uri="{9D8B030D-6E8A-4147-A177-3AD203B41FA5}">
                      <a16:colId xmlns:a16="http://schemas.microsoft.com/office/drawing/2014/main" val="1935388086"/>
                    </a:ext>
                  </a:extLst>
                </a:gridCol>
                <a:gridCol w="2813050">
                  <a:extLst>
                    <a:ext uri="{9D8B030D-6E8A-4147-A177-3AD203B41FA5}">
                      <a16:colId xmlns:a16="http://schemas.microsoft.com/office/drawing/2014/main" val="1084079075"/>
                    </a:ext>
                  </a:extLst>
                </a:gridCol>
                <a:gridCol w="2813050">
                  <a:extLst>
                    <a:ext uri="{9D8B030D-6E8A-4147-A177-3AD203B41FA5}">
                      <a16:colId xmlns:a16="http://schemas.microsoft.com/office/drawing/2014/main" val="2091076263"/>
                    </a:ext>
                  </a:extLst>
                </a:gridCol>
              </a:tblGrid>
              <a:tr h="370840">
                <a:tc>
                  <a:txBody>
                    <a:bodyPr/>
                    <a:lstStyle/>
                    <a:p>
                      <a:r>
                        <a:rPr lang="en-US" dirty="0"/>
                        <a:t>Validator run time in secs</a:t>
                      </a:r>
                    </a:p>
                  </a:txBody>
                  <a:tcPr/>
                </a:tc>
                <a:tc>
                  <a:txBody>
                    <a:bodyPr/>
                    <a:lstStyle/>
                    <a:p>
                      <a:r>
                        <a:rPr lang="en-US" dirty="0"/>
                        <a:t>No Of Records</a:t>
                      </a:r>
                    </a:p>
                  </a:txBody>
                  <a:tcPr/>
                </a:tc>
                <a:tc>
                  <a:txBody>
                    <a:bodyPr/>
                    <a:lstStyle/>
                    <a:p>
                      <a:r>
                        <a:rPr lang="en-US" dirty="0"/>
                        <a:t>Time taken per XML(secs)</a:t>
                      </a:r>
                    </a:p>
                  </a:txBody>
                  <a:tcPr/>
                </a:tc>
                <a:tc>
                  <a:txBody>
                    <a:bodyPr/>
                    <a:lstStyle/>
                    <a:p>
                      <a:r>
                        <a:rPr lang="en-US" dirty="0"/>
                        <a:t>% of entire batch run time</a:t>
                      </a:r>
                    </a:p>
                  </a:txBody>
                  <a:tcPr/>
                </a:tc>
                <a:extLst>
                  <a:ext uri="{0D108BD9-81ED-4DB2-BD59-A6C34878D82A}">
                    <a16:rowId xmlns:a16="http://schemas.microsoft.com/office/drawing/2014/main" val="1271852557"/>
                  </a:ext>
                </a:extLst>
              </a:tr>
              <a:tr h="370840">
                <a:tc>
                  <a:txBody>
                    <a:bodyPr/>
                    <a:lstStyle/>
                    <a:p>
                      <a:r>
                        <a:rPr lang="en-US" dirty="0"/>
                        <a:t>1.850065744</a:t>
                      </a:r>
                    </a:p>
                  </a:txBody>
                  <a:tcPr/>
                </a:tc>
                <a:tc>
                  <a:txBody>
                    <a:bodyPr/>
                    <a:lstStyle/>
                    <a:p>
                      <a:r>
                        <a:rPr lang="en-US" dirty="0"/>
                        <a:t>326</a:t>
                      </a:r>
                    </a:p>
                  </a:txBody>
                  <a:tcPr/>
                </a:tc>
                <a:tc>
                  <a:txBody>
                    <a:bodyPr/>
                    <a:lstStyle/>
                    <a:p>
                      <a:r>
                        <a:rPr lang="en-US" dirty="0"/>
                        <a:t>0.006</a:t>
                      </a:r>
                    </a:p>
                  </a:txBody>
                  <a:tcPr/>
                </a:tc>
                <a:tc>
                  <a:txBody>
                    <a:bodyPr/>
                    <a:lstStyle/>
                    <a:p>
                      <a:r>
                        <a:rPr lang="en-US" dirty="0"/>
                        <a:t>1.32</a:t>
                      </a:r>
                    </a:p>
                  </a:txBody>
                  <a:tcPr/>
                </a:tc>
                <a:extLst>
                  <a:ext uri="{0D108BD9-81ED-4DB2-BD59-A6C34878D82A}">
                    <a16:rowId xmlns:a16="http://schemas.microsoft.com/office/drawing/2014/main" val="2565494807"/>
                  </a:ext>
                </a:extLst>
              </a:tr>
              <a:tr h="370840">
                <a:tc>
                  <a:txBody>
                    <a:bodyPr/>
                    <a:lstStyle/>
                    <a:p>
                      <a:r>
                        <a:rPr lang="en-US" dirty="0"/>
                        <a:t>4.560706585</a:t>
                      </a:r>
                    </a:p>
                  </a:txBody>
                  <a:tcPr/>
                </a:tc>
                <a:tc>
                  <a:txBody>
                    <a:bodyPr/>
                    <a:lstStyle/>
                    <a:p>
                      <a:r>
                        <a:rPr lang="en-US" dirty="0"/>
                        <a:t>538</a:t>
                      </a:r>
                    </a:p>
                  </a:txBody>
                  <a:tcPr/>
                </a:tc>
                <a:tc>
                  <a:txBody>
                    <a:bodyPr/>
                    <a:lstStyle/>
                    <a:p>
                      <a:r>
                        <a:rPr lang="en-US" dirty="0"/>
                        <a:t>0.0085</a:t>
                      </a:r>
                    </a:p>
                  </a:txBody>
                  <a:tcPr/>
                </a:tc>
                <a:tc>
                  <a:txBody>
                    <a:bodyPr/>
                    <a:lstStyle/>
                    <a:p>
                      <a:r>
                        <a:rPr lang="en-US" dirty="0"/>
                        <a:t>1.26</a:t>
                      </a:r>
                    </a:p>
                  </a:txBody>
                  <a:tcPr/>
                </a:tc>
                <a:extLst>
                  <a:ext uri="{0D108BD9-81ED-4DB2-BD59-A6C34878D82A}">
                    <a16:rowId xmlns:a16="http://schemas.microsoft.com/office/drawing/2014/main" val="2496182588"/>
                  </a:ext>
                </a:extLst>
              </a:tr>
              <a:tr h="370840">
                <a:tc>
                  <a:txBody>
                    <a:bodyPr/>
                    <a:lstStyle/>
                    <a:p>
                      <a:r>
                        <a:rPr lang="en-US" dirty="0"/>
                        <a:t>9.889626408</a:t>
                      </a:r>
                    </a:p>
                  </a:txBody>
                  <a:tcPr/>
                </a:tc>
                <a:tc>
                  <a:txBody>
                    <a:bodyPr/>
                    <a:lstStyle/>
                    <a:p>
                      <a:r>
                        <a:rPr lang="en-US" dirty="0"/>
                        <a:t>1137</a:t>
                      </a:r>
                    </a:p>
                  </a:txBody>
                  <a:tcPr/>
                </a:tc>
                <a:tc>
                  <a:txBody>
                    <a:bodyPr/>
                    <a:lstStyle/>
                    <a:p>
                      <a:r>
                        <a:rPr lang="en-US" dirty="0"/>
                        <a:t>0.0087</a:t>
                      </a:r>
                    </a:p>
                  </a:txBody>
                  <a:tcPr/>
                </a:tc>
                <a:tc>
                  <a:txBody>
                    <a:bodyPr/>
                    <a:lstStyle/>
                    <a:p>
                      <a:r>
                        <a:rPr lang="en-US" dirty="0"/>
                        <a:t>1.18</a:t>
                      </a:r>
                    </a:p>
                  </a:txBody>
                  <a:tcPr/>
                </a:tc>
                <a:extLst>
                  <a:ext uri="{0D108BD9-81ED-4DB2-BD59-A6C34878D82A}">
                    <a16:rowId xmlns:a16="http://schemas.microsoft.com/office/drawing/2014/main" val="423756180"/>
                  </a:ext>
                </a:extLst>
              </a:tr>
              <a:tr h="370840">
                <a:tc>
                  <a:txBody>
                    <a:bodyPr/>
                    <a:lstStyle/>
                    <a:p>
                      <a:r>
                        <a:rPr lang="en-US" dirty="0"/>
                        <a:t>86.9832894</a:t>
                      </a:r>
                    </a:p>
                  </a:txBody>
                  <a:tcPr/>
                </a:tc>
                <a:tc>
                  <a:txBody>
                    <a:bodyPr/>
                    <a:lstStyle/>
                    <a:p>
                      <a:r>
                        <a:rPr lang="en-US" dirty="0"/>
                        <a:t>10,000</a:t>
                      </a:r>
                    </a:p>
                  </a:txBody>
                  <a:tcPr/>
                </a:tc>
                <a:tc>
                  <a:txBody>
                    <a:bodyPr/>
                    <a:lstStyle/>
                    <a:p>
                      <a:r>
                        <a:rPr lang="en-US" dirty="0"/>
                        <a:t>0.0087</a:t>
                      </a:r>
                    </a:p>
                  </a:txBody>
                  <a:tcPr/>
                </a:tc>
                <a:tc>
                  <a:txBody>
                    <a:bodyPr/>
                    <a:lstStyle/>
                    <a:p>
                      <a:r>
                        <a:rPr lang="en-US" dirty="0"/>
                        <a:t>1.16</a:t>
                      </a:r>
                    </a:p>
                  </a:txBody>
                  <a:tcPr/>
                </a:tc>
                <a:extLst>
                  <a:ext uri="{0D108BD9-81ED-4DB2-BD59-A6C34878D82A}">
                    <a16:rowId xmlns:a16="http://schemas.microsoft.com/office/drawing/2014/main" val="227341125"/>
                  </a:ext>
                </a:extLst>
              </a:tr>
              <a:tr h="370840">
                <a:tc>
                  <a:txBody>
                    <a:bodyPr/>
                    <a:lstStyle/>
                    <a:p>
                      <a:r>
                        <a:rPr lang="en-US" dirty="0"/>
                        <a:t>434.916447</a:t>
                      </a:r>
                    </a:p>
                  </a:txBody>
                  <a:tcPr/>
                </a:tc>
                <a:tc>
                  <a:txBody>
                    <a:bodyPr/>
                    <a:lstStyle/>
                    <a:p>
                      <a:r>
                        <a:rPr lang="en-US" dirty="0"/>
                        <a:t>50,000</a:t>
                      </a:r>
                    </a:p>
                  </a:txBody>
                  <a:tcPr/>
                </a:tc>
                <a:tc>
                  <a:txBody>
                    <a:bodyPr/>
                    <a:lstStyle/>
                    <a:p>
                      <a:r>
                        <a:rPr lang="en-US" dirty="0"/>
                        <a:t>0.0086</a:t>
                      </a:r>
                    </a:p>
                  </a:txBody>
                  <a:tcPr/>
                </a:tc>
                <a:tc>
                  <a:txBody>
                    <a:bodyPr/>
                    <a:lstStyle/>
                    <a:p>
                      <a:r>
                        <a:rPr lang="en-US" dirty="0"/>
                        <a:t>1.15</a:t>
                      </a:r>
                    </a:p>
                  </a:txBody>
                  <a:tcPr/>
                </a:tc>
                <a:extLst>
                  <a:ext uri="{0D108BD9-81ED-4DB2-BD59-A6C34878D82A}">
                    <a16:rowId xmlns:a16="http://schemas.microsoft.com/office/drawing/2014/main" val="1888514597"/>
                  </a:ext>
                </a:extLst>
              </a:tr>
              <a:tr h="370840">
                <a:tc>
                  <a:txBody>
                    <a:bodyPr/>
                    <a:lstStyle/>
                    <a:p>
                      <a:r>
                        <a:rPr lang="en-US" dirty="0"/>
                        <a:t>869.832894</a:t>
                      </a:r>
                    </a:p>
                  </a:txBody>
                  <a:tcPr/>
                </a:tc>
                <a:tc>
                  <a:txBody>
                    <a:bodyPr/>
                    <a:lstStyle/>
                    <a:p>
                      <a:r>
                        <a:rPr lang="en-US" dirty="0"/>
                        <a:t>100,000</a:t>
                      </a:r>
                    </a:p>
                  </a:txBody>
                  <a:tcPr/>
                </a:tc>
                <a:tc>
                  <a:txBody>
                    <a:bodyPr/>
                    <a:lstStyle/>
                    <a:p>
                      <a:r>
                        <a:rPr lang="en-US" dirty="0"/>
                        <a:t>0.0085</a:t>
                      </a:r>
                    </a:p>
                  </a:txBody>
                  <a:tcPr/>
                </a:tc>
                <a:tc>
                  <a:txBody>
                    <a:bodyPr/>
                    <a:lstStyle/>
                    <a:p>
                      <a:r>
                        <a:rPr lang="en-US" dirty="0"/>
                        <a:t>1.15</a:t>
                      </a:r>
                    </a:p>
                  </a:txBody>
                  <a:tcPr/>
                </a:tc>
                <a:extLst>
                  <a:ext uri="{0D108BD9-81ED-4DB2-BD59-A6C34878D82A}">
                    <a16:rowId xmlns:a16="http://schemas.microsoft.com/office/drawing/2014/main" val="1010037310"/>
                  </a:ext>
                </a:extLst>
              </a:tr>
              <a:tr h="370840">
                <a:tc>
                  <a:txBody>
                    <a:bodyPr/>
                    <a:lstStyle/>
                    <a:p>
                      <a:r>
                        <a:rPr lang="en-US" dirty="0"/>
                        <a:t>290.14146</a:t>
                      </a:r>
                    </a:p>
                  </a:txBody>
                  <a:tcPr>
                    <a:solidFill>
                      <a:schemeClr val="accent2">
                        <a:lumMod val="40000"/>
                        <a:lumOff val="60000"/>
                      </a:schemeClr>
                    </a:solidFill>
                  </a:tcPr>
                </a:tc>
                <a:tc>
                  <a:txBody>
                    <a:bodyPr/>
                    <a:lstStyle/>
                    <a:p>
                      <a:r>
                        <a:rPr lang="en-US" dirty="0"/>
                        <a:t>33,356</a:t>
                      </a:r>
                    </a:p>
                  </a:txBody>
                  <a:tcPr>
                    <a:solidFill>
                      <a:schemeClr val="accent2">
                        <a:lumMod val="40000"/>
                        <a:lumOff val="60000"/>
                      </a:schemeClr>
                    </a:solidFill>
                  </a:tcPr>
                </a:tc>
                <a:tc>
                  <a:txBody>
                    <a:bodyPr/>
                    <a:lstStyle/>
                    <a:p>
                      <a:r>
                        <a:rPr lang="en-US" dirty="0"/>
                        <a:t>0.0086</a:t>
                      </a:r>
                    </a:p>
                  </a:txBody>
                  <a:tcPr>
                    <a:solidFill>
                      <a:schemeClr val="accent2">
                        <a:lumMod val="40000"/>
                        <a:lumOff val="60000"/>
                      </a:schemeClr>
                    </a:solidFill>
                  </a:tcPr>
                </a:tc>
                <a:tc>
                  <a:txBody>
                    <a:bodyPr/>
                    <a:lstStyle/>
                    <a:p>
                      <a:r>
                        <a:rPr lang="en-US" dirty="0"/>
                        <a:t>1.46 (If all xml’s are invalid)</a:t>
                      </a:r>
                    </a:p>
                  </a:txBody>
                  <a:tcPr>
                    <a:solidFill>
                      <a:schemeClr val="accent2">
                        <a:lumMod val="40000"/>
                        <a:lumOff val="60000"/>
                      </a:schemeClr>
                    </a:solidFill>
                  </a:tcPr>
                </a:tc>
                <a:extLst>
                  <a:ext uri="{0D108BD9-81ED-4DB2-BD59-A6C34878D82A}">
                    <a16:rowId xmlns:a16="http://schemas.microsoft.com/office/drawing/2014/main" val="2413976073"/>
                  </a:ext>
                </a:extLst>
              </a:tr>
            </a:tbl>
          </a:graphicData>
        </a:graphic>
      </p:graphicFrame>
      <p:sp>
        <p:nvSpPr>
          <p:cNvPr id="10" name="TextBox 9">
            <a:extLst>
              <a:ext uri="{FF2B5EF4-FFF2-40B4-BE49-F238E27FC236}">
                <a16:creationId xmlns:a16="http://schemas.microsoft.com/office/drawing/2014/main" id="{8F26AC76-89FE-4AAF-9BE6-BF1DD9A5AF63}"/>
              </a:ext>
            </a:extLst>
          </p:cNvPr>
          <p:cNvSpPr txBox="1"/>
          <p:nvPr/>
        </p:nvSpPr>
        <p:spPr>
          <a:xfrm>
            <a:off x="618309" y="4336869"/>
            <a:ext cx="11025051" cy="1200329"/>
          </a:xfrm>
          <a:prstGeom prst="rect">
            <a:avLst/>
          </a:prstGeom>
          <a:noFill/>
        </p:spPr>
        <p:txBody>
          <a:bodyPr wrap="square" rtlCol="0">
            <a:spAutoFit/>
          </a:bodyPr>
          <a:lstStyle/>
          <a:p>
            <a:r>
              <a:rPr lang="en-US" dirty="0"/>
              <a:t>The average time taken per xml is 0.0086 second and the total % of the validator code corresponding to the batch run time is 1.27%. There is always a fixed ~60 second load schema which occurs for all the notices having at least one trigger. </a:t>
            </a:r>
          </a:p>
          <a:p>
            <a:endParaRPr lang="en-US" dirty="0"/>
          </a:p>
        </p:txBody>
      </p:sp>
    </p:spTree>
    <p:extLst>
      <p:ext uri="{BB962C8B-B14F-4D97-AF65-F5344CB8AC3E}">
        <p14:creationId xmlns:p14="http://schemas.microsoft.com/office/powerpoint/2010/main" val="2607973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285875" y="4243388"/>
            <a:ext cx="10451306" cy="1321594"/>
          </a:xfrm>
        </p:spPr>
        <p:txBody>
          <a:bodyPr>
            <a:normAutofit/>
          </a:bodyPr>
          <a:lstStyle/>
          <a:p>
            <a:r>
              <a:rPr lang="en-US" sz="4400" dirty="0"/>
              <a:t>Thank You!!!</a:t>
            </a:r>
          </a:p>
        </p:txBody>
      </p:sp>
      <p:pic>
        <p:nvPicPr>
          <p:cNvPr id="9" name="Picture Placeholder 8"/>
          <p:cNvPicPr>
            <a:picLocks noGrp="1" noChangeAspect="1"/>
          </p:cNvPicPr>
          <p:nvPr>
            <p:ph type="pic" sz="quarter" idx="11"/>
          </p:nvPr>
        </p:nvPicPr>
        <p:blipFill>
          <a:blip r:embed="rId3"/>
          <a:srcRect l="15" r="15"/>
          <a:stretch>
            <a:fillRect/>
          </a:stretch>
        </p:blipFill>
        <p:spPr>
          <a:xfrm>
            <a:off x="3043238" y="-71438"/>
            <a:ext cx="6036467" cy="4769883"/>
          </a:xfrm>
        </p:spPr>
      </p:pic>
    </p:spTree>
    <p:extLst>
      <p:ext uri="{BB962C8B-B14F-4D97-AF65-F5344CB8AC3E}">
        <p14:creationId xmlns:p14="http://schemas.microsoft.com/office/powerpoint/2010/main" val="306092606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TotalTime>
  <Words>558</Words>
  <Application>Microsoft Office PowerPoint</Application>
  <PresentationFormat>Widescreen</PresentationFormat>
  <Paragraphs>93</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Aldhabi</vt:lpstr>
      <vt:lpstr>Arial</vt:lpstr>
      <vt:lpstr>Calibri</vt:lpstr>
      <vt:lpstr>Calibri Light</vt:lpstr>
      <vt:lpstr>Office Theme</vt:lpstr>
      <vt:lpstr>PowerPoint Presentation</vt:lpstr>
      <vt:lpstr>XML VALIDATION</vt:lpstr>
      <vt:lpstr> </vt:lpstr>
      <vt:lpstr>PowerPoint Presentation</vt:lpstr>
      <vt:lpstr>Scenario  1</vt:lpstr>
      <vt:lpstr>Scenario  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Thachil, Joseph Thomas (US - Mumbai)</dc:creator>
  <cp:lastModifiedBy>Thachil, Joseph Thomas (US - Mumbai)</cp:lastModifiedBy>
  <cp:revision>21</cp:revision>
  <dcterms:created xsi:type="dcterms:W3CDTF">2019-03-20T06:16:52Z</dcterms:created>
  <dcterms:modified xsi:type="dcterms:W3CDTF">2019-03-20T14:48:07Z</dcterms:modified>
</cp:coreProperties>
</file>